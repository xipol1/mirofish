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9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MELIÁ HOTELS INTERNATIONAL · APRIL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decisions, predicted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B8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deploy them.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Users × Meliá Hotels International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5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accuracy: F1 91.4% against 572 real Villa Le Blanc reviews.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 · Rafa Ferrer · Synthetic Users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35A"/>
                </a:solidFill>
              </a:rPr>
              <a:t>THE REVENUE GAP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CRO is running revenue on 90-day-old data.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research moves on quarterly cycles. Pricing experiments take a season to validate. Property refurbs commit capex before anyone knows how guests will react. The gap between decision and evidence is where margin leaks.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822960"/>
            <a:ext cx="5943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822960"/>
            <a:ext cx="137160" cy="1737360"/>
          </a:xfrm>
          <a:prstGeom prst="rect">
            <a:avLst/>
          </a:prstGeom>
          <a:solidFill>
            <a:srgbClr val="B8935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005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weeks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from research brief to actionable panel result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743200"/>
            <a:ext cx="5943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2743200"/>
            <a:ext cx="137160" cy="1737360"/>
          </a:xfrm>
          <a:prstGeom prst="rect">
            <a:avLst/>
          </a:prstGeom>
          <a:solidFill>
            <a:srgbClr val="B8935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9260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days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943600" y="3657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between guest stay and NPS signal reaching ops teams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4663440"/>
            <a:ext cx="5943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4663440"/>
            <a:ext cx="137160" cy="1737360"/>
          </a:xfrm>
          <a:prstGeom prst="rect">
            <a:avLst/>
          </a:prstGeom>
          <a:solidFill>
            <a:srgbClr val="B8935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48463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€1.2M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943600" y="55778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RevPAR risk per 100-room property per year from blind pricing/ops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1538"/>
                </a:solidFill>
              </a:rPr>
              <a:t>OUR PROPOSITION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intelligence, on a 48-hour cycle.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simulate the full guest journey — arrival, room, F&amp;B, amenities, checkout, review — for hundreds of calibrated synthetic guests. You get segment-level revenue insights in days, not quarters.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uplift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how a rate change, loyalty shift, or refurb affects RevPAR — segment by segment — before deploying capex.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3017520"/>
            <a:ext cx="640080" cy="64008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0352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 insights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3931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satisfaction and friction by market, archetype, and booking channel. See which €1 of investment moves which segment.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0" y="3017520"/>
            <a:ext cx="640080" cy="640080"/>
          </a:xfrm>
          <a:prstGeom prst="ellipse">
            <a:avLst/>
          </a:prstGeom>
          <a:solidFill>
            <a:srgbClr val="B8935A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23544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to decision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3931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brief to actionable report in 2 weeks. Re-run experiments in 48 hours. Never wait for the next quarterly panel.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62636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</a:rPr>
              <a:t>Proof point — next slide: F1 91.4% accuracy on Villa Le Blanc backtested against 572 real reviews.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35A"/>
                </a:solidFill>
              </a:rPr>
              <a:t>ACCURACY 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backtested our model against real reviews.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B8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= 91.4%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detection precision × recall against 572 real Villa Le Blanc reviews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846320"/>
            <a:ext cx="2743200" cy="1463040"/>
          </a:xfrm>
          <a:prstGeom prst="rect">
            <a:avLst/>
          </a:prstGeom>
          <a:solidFill>
            <a:srgbClr val="1E2941"/>
          </a:solidFill>
          <a:ln w="12700">
            <a:solidFill>
              <a:srgbClr val="B893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92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5800" y="5532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recall — every theme real guests mention, we surface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4846320"/>
            <a:ext cx="2743200" cy="1463040"/>
          </a:xfrm>
          <a:prstGeom prst="rect">
            <a:avLst/>
          </a:prstGeom>
          <a:solidFill>
            <a:srgbClr val="1E2941"/>
          </a:solidFill>
          <a:ln w="12700">
            <a:solidFill>
              <a:srgbClr val="B893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4892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566160" y="5532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precision — our predictions map to real themes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4846320"/>
            <a:ext cx="2743200" cy="1463040"/>
          </a:xfrm>
          <a:prstGeom prst="rect">
            <a:avLst/>
          </a:prstGeom>
          <a:solidFill>
            <a:srgbClr val="1E2941"/>
          </a:solidFill>
          <a:ln w="12700">
            <a:solidFill>
              <a:srgbClr val="B893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4892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446520" y="5532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reviews in backtest corpus (TripAdvisor + Booking + Expedia + 3 pro)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89720" y="4846320"/>
            <a:ext cx="2743200" cy="1463040"/>
          </a:xfrm>
          <a:prstGeom prst="rect">
            <a:avLst/>
          </a:prstGeom>
          <a:solidFill>
            <a:srgbClr val="1E2941"/>
          </a:solidFill>
          <a:ln w="12700">
            <a:solidFill>
              <a:srgbClr val="B893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4892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326880" y="5532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Cross-archetype themes catalogued and matched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5DFD3"/>
                </a:solidFill>
              </a:rPr>
              <a:t>Source: backtest_villa_le_blanc_report.md · Reproducible: node scripts/backtest_villa_le_blanc.js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1538"/>
                </a:solidFill>
              </a:rPr>
              <a:t>CASE STUDY · VILLA LE BLANC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synthetic guests. 8 archetypes. 36 revenue opportunities identified.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64922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5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5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5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opportunity identified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5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 Seeker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segment — protect via brand-signature touches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Honeymooner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89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spender, but dissatisfied. Fix personalization → +40% retention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Vacationer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Kids menu + club capacity are friction. Low capex, high NPS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Nomad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Wifi SLA contract → unlock 14-night+ stays, RevPAR compound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Traveler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Dinner La Sal pre-reserve: +€200-400 ancillary per stay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Maximizer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recognition protocol → churn risk reduced by 25pp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11064240" cy="1097280"/>
          </a:xfrm>
          <a:prstGeom prst="rect">
            <a:avLst/>
          </a:prstGeom>
          <a:solidFill>
            <a:srgbClr val="F5F1E8"/>
          </a:solidFill>
          <a:ln w="12700">
            <a:solidFill>
              <a:srgbClr val="B8935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5486400"/>
            <a:ext cx="109728" cy="1097280"/>
          </a:xfrm>
          <a:prstGeom prst="rect">
            <a:avLst/>
          </a:prstGeom>
          <a:solidFill>
            <a:srgbClr val="B8935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577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35A"/>
                </a:solidFill>
              </a:rPr>
              <a:t>KEY INSIGHT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58521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property works for 1 of 8 segments (Luxury Seeker). Closing the gap on Honeymoon + Loyalty + Digital Nomad alone represents an estimated €1.8-2.4M annual RevPAR uplift.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1538"/>
                </a:solidFill>
              </a:rPr>
              <a:t>SEGMENT REVENUE MATRIX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segment has a different payoff curve.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simulation quantifies both ticket size AND fixability per archetype. You invest where both are high.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219456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B1538"/>
                </a:solidFill>
              </a:rPr>
              <a:t>HIGH AVG SPEND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48056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B1538"/>
                </a:solidFill>
              </a:rPr>
              <a:t>LOW AVG SPEND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6720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</a:rPr>
              <a:t>← FIXABILITY HARD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6720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</a:rPr>
              <a:t>FIXABILITY EASY 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2194560"/>
            <a:ext cx="5029200" cy="2194560"/>
          </a:xfrm>
          <a:prstGeom prst="rect">
            <a:avLst/>
          </a:prstGeom>
          <a:solidFill>
            <a:srgbClr val="F5F1E8"/>
          </a:solidFill>
          <a:ln w="25400">
            <a:solidFill>
              <a:srgbClr val="E5DF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35A"/>
                </a:solidFill>
              </a:rPr>
              <a:t>PROTECT &amp; MONITOR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2880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Seeker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3383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€416 avg · NPS +45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37490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Core segment. Slow, expensive to dial up. Track for drift.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194560"/>
            <a:ext cx="5029200" cy="2194560"/>
          </a:xfrm>
          <a:prstGeom prst="rect">
            <a:avLst/>
          </a:prstGeom>
          <a:solidFill>
            <a:srgbClr val="8B1538"/>
          </a:solidFill>
          <a:ln w="38100">
            <a:solidFill>
              <a:srgbClr val="B893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35A"/>
                </a:solidFill>
              </a:rPr>
              <a:t>⭐ GOLDEN OPPORTUNITY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2880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Honeymooner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3383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DFD3"/>
                </a:solidFill>
              </a:rPr>
              <a:t>€934 avg · NPS −13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37490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Highest spender, easy personalization fix. 40%+ retention uplift potential.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4480560"/>
            <a:ext cx="5029200" cy="2194560"/>
          </a:xfrm>
          <a:prstGeom prst="rect">
            <a:avLst/>
          </a:prstGeom>
          <a:solidFill>
            <a:srgbClr val="F5F5F5"/>
          </a:solidFill>
          <a:ln w="25400">
            <a:solidFill>
              <a:srgbClr val="E5DF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4754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B6B"/>
                </a:solidFill>
              </a:rPr>
              <a:t>RECONSIDER POSITION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5166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Optimizer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45920" y="5669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€25 avg · NPS −40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45920" y="60350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Low payoff. De-prioritize or shift to a different property.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4480560"/>
            <a:ext cx="5029200" cy="2194560"/>
          </a:xfrm>
          <a:prstGeom prst="rect">
            <a:avLst/>
          </a:prstGeom>
          <a:solidFill>
            <a:srgbClr val="2C3E50"/>
          </a:solidFill>
          <a:ln w="25400">
            <a:solidFill>
              <a:srgbClr val="E5DF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754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35A"/>
                </a:solidFill>
              </a:rPr>
              <a:t>QUICK WIN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5166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Nomad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75120" y="5669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DFD3"/>
                </a:solidFill>
              </a:rPr>
              <a:t>€23 avg · NPS −66 · Wifi fix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60350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Wifi SLA unlocks 14-night+ LoS. Low capex, compound effect.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1538"/>
                </a:solidFill>
              </a:rPr>
              <a:t>SPEED-TO-DECISION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days vs 12 weeks vs 6 months.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 answered with three different research methods. We are 6-12× faster at 3-5× lower cost.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74720" cy="4206240"/>
          </a:xfrm>
          <a:prstGeom prst="rect">
            <a:avLst/>
          </a:prstGeom>
          <a:solidFill>
            <a:srgbClr val="8B1538"/>
          </a:solidFill>
          <a:ln w="38100">
            <a:solidFill>
              <a:srgbClr val="B893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35A"/>
                </a:solidFill>
              </a:rPr>
              <a:t>SYNTHETIC 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DFD3"/>
                </a:solidFill>
              </a:rPr>
              <a:t>Our engine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DAYS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DFD3"/>
                </a:solidFill>
              </a:rPr>
              <a:t>€18K · 50-500 synthetic guests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9319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35A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931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Re-run in 48h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22452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35A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422452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Segment-level precision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45171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35A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451713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Calibrated vs real corpus (F1 91.4%)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80974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35A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8097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Reproducible &amp; auditable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DFD3"/>
                </a:solidFill>
              </a:rPr>
              <a:t>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51023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DFD3"/>
                </a:solidFill>
              </a:rPr>
              <a:t>Validated range: 5-star hospitality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5394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DFD3"/>
                </a:solidFill>
              </a:rPr>
              <a:t>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53949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DFD3"/>
                </a:solidFill>
              </a:rPr>
              <a:t>Claude Opus production recommended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210312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1538"/>
                </a:solidFill>
              </a:rPr>
              <a:t>TRADITIONAL PANEL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43400" y="2560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</a:rPr>
              <a:t>Qualtrics / Dscout / in-house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4340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WEEKS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343400" y="3520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€50-80K · 50-100 real respondents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43400" y="39319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37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3931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Real human voices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43400" y="422452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37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17720" y="422452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Deep qualitative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43400" y="45171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×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17720" y="451713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Panel self-selection bias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480974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×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17720" y="48097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12-week feedback loop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43400" y="510235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×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17720" y="51023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Fixed after brief locks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43400" y="5394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×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17720" y="53949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Cannot re-run experiments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80960" y="210312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0956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1538"/>
                </a:solidFill>
              </a:rPr>
              <a:t>INTERNAL MEASUREMENT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909560" y="2560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</a:rPr>
              <a:t>Post-stay NPS + CSAT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0956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MONTHS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7909560" y="3520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Sunk operational · Actual guests post-factum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909560" y="39319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37"/>
                </a:solidFill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83880" y="3931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Ground truth (eventually)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909560" y="422452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37"/>
                </a:solidFill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183880" y="422452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No additional cost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909560" y="45171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×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183880" y="451713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Post-facto only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09560" y="480974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×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183880" y="48097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No pre-launch validation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909560" y="510235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×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183880" y="510235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90-day lag to signal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909560" y="5394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×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183880" y="53949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No counterfactual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1538"/>
                </a:solidFill>
              </a:rPr>
              <a:t>4 REVENUE QUESTIONS WE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any. Same engine. Different output.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09728" cy="2377440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Experience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"Where is our property losing NPS — and how much revenue does that cost us?"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→ Full 50-page report with friction ranked, per-segment NPS, and uplift projections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828800"/>
            <a:ext cx="109728" cy="23774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011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331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Engine Test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"Why are prospects abandoning our direct booking funnel — and at which step?"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5661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→ Conversion funnel with drop-off reasons by market, device, and price variant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389120"/>
            <a:ext cx="109728" cy="2377440"/>
          </a:xfrm>
          <a:prstGeom prst="rect">
            <a:avLst/>
          </a:prstGeom>
          <a:solidFill>
            <a:srgbClr val="B8935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72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Strategy Test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7240" y="5440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we raise ADR 12%, which segments walk and which stay?"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6126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→ Demand curve per segment + revenue-optimum variant identification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38912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4389120"/>
            <a:ext cx="109728" cy="237744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572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 Change Test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46520" y="5440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"How will our members react to the new earning rate structure?"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6126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→ Churn risk by tier × market, tier migration patterns, competitor switch probability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1538"/>
                </a:solidFill>
              </a:rPr>
              <a:t>METHODOLOGY · 60 SECONDS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calibration layers. 30+ cited sources. Fully auditable.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7556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Hofstede 6-D cultural dimensions (30 countries)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48640" cy="54864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3957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context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Phocuswright European Consumer 2024 + channel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48640" cy="54864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0358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context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AENA traffic, Eurostat tourism, seasonal weather models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6758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continuity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Named entities persist across stages, rapport accumulates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548640" cy="54864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3159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Post-stay dynamics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4389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Kahneman peak-end rule + Baumeister negativity bias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rgbClr val="8B153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4956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calibration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0" y="5029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</a:rPr>
              <a:t>Real review corpus per property (Villa Le Blanc: 572 reviews)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solidFill>
            <a:srgbClr val="E8EBF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943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3E50"/>
                </a:solidFill>
              </a:rPr>
              <a:t>CITED SOURCES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62179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FRONTUR · EGATUR · ONS · AENA · Phocuswright · Skift · Cornell Hospitality Quarterly · Hofstede Insights · HolidayCheck · FUR Reiseanalyse · Statista · MARA 2025 · QuestionPro 2025 · Springer ENTER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1538"/>
                </a:solidFill>
              </a:rPr>
              <a:t>PRICING &amp; 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start. Low-commitment first.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749040" cy="4846320"/>
          </a:xfrm>
          <a:prstGeom prst="rect">
            <a:avLst/>
          </a:prstGeom>
          <a:solidFill>
            <a:srgbClr val="8B1538"/>
          </a:solidFill>
          <a:ln w="50800">
            <a:solidFill>
              <a:srgbClr val="B893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35A"/>
                </a:solidFill>
              </a:rPr>
              <a:t>Start here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€18,000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5DFD3"/>
                </a:solidFill>
              </a:rPr>
              <a:t>2 weeks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One property · One modality · 50 synthetic guests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935A"/>
                </a:solidFill>
              </a:rPr>
              <a:t>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41422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Single property deep-dive report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41655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935A"/>
                </a:solidFill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51560" y="43982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Revenue opportunity matrix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67258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935A"/>
                </a:solidFill>
              </a:rPr>
              <a:t>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46542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Top 5 friction clusters ranked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92861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935A"/>
                </a:solidFill>
              </a:rPr>
              <a:t>●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1560" y="49103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Model Accuracy Report (backtest)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51846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935A"/>
                </a:solidFill>
              </a:rPr>
              <a:t>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" y="5166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Executive 20-page deck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6126480"/>
            <a:ext cx="3200400" cy="274320"/>
          </a:xfrm>
          <a:prstGeom prst="rect">
            <a:avLst/>
          </a:prstGeom>
          <a:solidFill>
            <a:srgbClr val="B8935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6126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B1538"/>
                </a:solidFill>
              </a:rPr>
              <a:t>⭐ Recommended first step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173736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35A"/>
                </a:solidFill>
              </a:rPr>
              <a:t>90-day partnership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709160" y="2606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€85,000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70916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</a:rPr>
              <a:t>3 months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</a:rPr>
              <a:t>3 properties · 3 modalities · data access for calibration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41605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1538"/>
                </a:solidFill>
              </a:rPr>
              <a:t>●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37760" y="41422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3 property audits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441655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1538"/>
                </a:solidFill>
              </a:rPr>
              <a:t>●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37760" y="43982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Booking Engine + Rate Strategy tests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467258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1538"/>
                </a:solidFill>
              </a:rPr>
              <a:t>●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37760" y="46542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Revenue Playbook per property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492861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1538"/>
                </a:solidFill>
              </a:rPr>
              <a:t>●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37760" y="49103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Integration with Opera / Infor PMS (read-only)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51846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1538"/>
                </a:solidFill>
              </a:rPr>
              <a:t>●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37760" y="5166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Calibration loop: predict → measure → refine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9160" y="6172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Where pilot becomes product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321040" y="1737360"/>
            <a:ext cx="3749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35A"/>
                </a:solidFill>
              </a:rPr>
              <a:t>Full engine subscription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9536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8595360" y="2606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€240,000 / year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859536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</a:rPr>
              <a:t>12 months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595360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</a:rPr>
              <a:t>25+ properties · all modalities · always-on dashboard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595360" y="41605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1538"/>
                </a:solidFill>
              </a:rPr>
              <a:t>●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823960" y="41422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Portfolio-level intelligence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95360" y="441655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1538"/>
                </a:solidFill>
              </a:rPr>
              <a:t>●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823960" y="43982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Always-on Revenue Playbook dashboard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95360" y="467258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1538"/>
                </a:solidFill>
              </a:rPr>
              <a:t>●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823960" y="46542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A/B counterfactual engine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595360" y="492861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1538"/>
                </a:solidFill>
              </a:rPr>
              <a:t>●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823960" y="49103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Quarterly recalibration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595360" y="51846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1538"/>
                </a:solidFill>
              </a:rPr>
              <a:t>●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823960" y="5166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Strategic advisory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95360" y="6172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For scaled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35A"/>
                </a:solidFill>
              </a:rPr>
              <a:t>PROPOSED NEXT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2-week audit. One property. Clear output.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45920" cy="822960"/>
          </a:xfrm>
          <a:prstGeom prst="rect">
            <a:avLst/>
          </a:prstGeom>
          <a:solidFill>
            <a:srgbClr val="B8935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C3E50"/>
                </a:solidFill>
              </a:rPr>
              <a:t>DAY 1-2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2926080"/>
            <a:ext cx="0" cy="274320"/>
          </a:xfrm>
          <a:prstGeom prst="line">
            <a:avLst/>
          </a:prstGeom>
          <a:noFill/>
          <a:ln w="25400">
            <a:solidFill>
              <a:srgbClr val="B893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68880" y="2514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DFD3"/>
                </a:solidFill>
              </a:rPr>
              <a:t>Pick the property (Villa Le Blanc or another). Define the question. DPA signature.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645920" cy="822960"/>
          </a:xfrm>
          <a:prstGeom prst="rect">
            <a:avLst/>
          </a:prstGeom>
          <a:solidFill>
            <a:srgbClr val="B8935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C3E50"/>
                </a:solidFill>
              </a:rPr>
              <a:t>DAY 3-8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3977640"/>
            <a:ext cx="0" cy="274320"/>
          </a:xfrm>
          <a:prstGeom prst="line">
            <a:avLst/>
          </a:prstGeom>
          <a:noFill/>
          <a:ln w="25400">
            <a:solidFill>
              <a:srgbClr val="B893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+ simulation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68880" y="3566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DFD3"/>
                </a:solidFill>
              </a:rPr>
              <a:t>100 synthetic guests across 8 archetypes. Real-corpus backtest. Multi-modality output.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645920" cy="822960"/>
          </a:xfrm>
          <a:prstGeom prst="rect">
            <a:avLst/>
          </a:prstGeom>
          <a:solidFill>
            <a:srgbClr val="B8935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C3E50"/>
                </a:solidFill>
              </a:rPr>
              <a:t>DAY 9-12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5029200"/>
            <a:ext cx="0" cy="274320"/>
          </a:xfrm>
          <a:prstGeom prst="line">
            <a:avLst/>
          </a:prstGeom>
          <a:noFill/>
          <a:ln w="25400">
            <a:solidFill>
              <a:srgbClr val="B893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251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+ synthesis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468880" y="4617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DFD3"/>
                </a:solidFill>
              </a:rPr>
              <a:t>Revenue opportunity matrix. Friction cluster ranking. Segment-level uplift projections.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645920" cy="822960"/>
          </a:xfrm>
          <a:prstGeom prst="rect">
            <a:avLst/>
          </a:prstGeom>
          <a:solidFill>
            <a:srgbClr val="B8935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532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C3E50"/>
                </a:solidFill>
              </a:rPr>
              <a:t>DAY 13-14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5303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+ alignment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468880" y="5669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DFD3"/>
                </a:solidFill>
              </a:rPr>
              <a:t>60-min executive walkthrough. 20-page deck + raw data. Decision on pilot.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solidFill>
            <a:srgbClr val="B8935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ASK: €18K · 2 weeks · Pick a property today — we start Monday.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8B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893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89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the questions that matter.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35A"/>
                </a:solidFill>
              </a:rPr>
              <a:t>WHAT WE NEED FROM YOU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→ 1 property to start (Villa Le Blanc or your pick)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→ 1 key business question (revenue / satisfaction / pricing)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212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→ DPA signature for data access (we have a template)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→ Executive sponsor (CRO or Director of Experience)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935A"/>
                </a:solidFill>
              </a:rPr>
              <a:t>Rafa Ferrer · Synthetic Users · rafa@syntheticusers.com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Synthetic Users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Users × Meliá — Revenue Intelligence Pitch</dc:title>
  <dc:subject>PptxGenJS Presentation</dc:subject>
  <dc:creator>Synthetic Users</dc:creator>
  <cp:lastModifiedBy>Synthetic Users</cp:lastModifiedBy>
  <cp:revision>1</cp:revision>
  <dcterms:created xsi:type="dcterms:W3CDTF">2026-04-18T10:30:24Z</dcterms:created>
  <dcterms:modified xsi:type="dcterms:W3CDTF">2026-04-18T10:30:24Z</dcterms:modified>
</cp:coreProperties>
</file>